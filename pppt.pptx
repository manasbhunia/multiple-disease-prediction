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4.jpg" ContentType="image/jpeg"/>
  <Override PartName="/ppt/media/image5.jpg" ContentType="image/jpeg"/>
  <Override PartName="/ppt/media/image7.jpg" ContentType="image/jpeg"/>
  <Override PartName="/ppt/media/image8.jpg" ContentType="image/jpeg"/>
  <Override PartName="/ppt/media/image9.jpg" ContentType="image/jpeg"/>
  <Override PartName="/ppt/media/image12.jpg" ContentType="image/jpeg"/>
  <Override PartName="/ppt/media/image19.jpg" ContentType="image/jpeg"/>
  <Override PartName="/ppt/media/image20.jpg" ContentType="image/jpeg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2" r:id="rId7"/>
    <p:sldId id="262" r:id="rId8"/>
    <p:sldId id="263" r:id="rId9"/>
    <p:sldId id="265" r:id="rId10"/>
    <p:sldId id="264" r:id="rId11"/>
    <p:sldId id="256" r:id="rId12"/>
    <p:sldId id="271" r:id="rId13"/>
    <p:sldId id="270" r:id="rId14"/>
    <p:sldId id="269" r:id="rId15"/>
    <p:sldId id="268" r:id="rId16"/>
    <p:sldId id="26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3F3A3-2E54-43B1-882B-B2D5E7BB67BA}" v="99" dt="2026-02-08T18:21:46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C9A89-688D-26A9-9FBF-71773F6E4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55A76-9C23-DE50-0247-BC562A992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DF0AF-AC2C-32AB-2C75-50A71979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4EEE9-802D-A141-F72D-AE9103AA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176D1-0340-68F9-FBFE-13A8F1E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75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DE3D-E4B4-900B-F74A-FEE42D59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FB1DF-D2CA-71AF-E77B-CB747868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CF99F-ADDC-5DEA-45F7-81449CD95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BD445-EACE-A3DD-BA8F-7ADC8134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19CD5-3755-8BB2-CABC-8944277AD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68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EFF8-D449-E2F1-6885-732E5ED2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01982-35AC-C3F0-E85B-47CA531A2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7C477-6902-8237-28C4-5EAD0C33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7F489-B0FA-F6F8-37AE-14A72EFB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31883-3B51-0406-B4FA-1B6EB38B2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2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048E-973A-9E7E-7026-50134A078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1556-9897-06AF-8D75-8BB2BDE7D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7B3AA-A2D0-026C-042C-653B5EBB6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361A1-5AF7-702C-36C3-B3289585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765CA-1032-AED2-A5A9-3436F24C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F5C15-920B-7F61-ED36-B18F4387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8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21B1-A07B-72C7-C8BC-D4BA1421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3D4E3-4C01-B41D-3921-938F2F876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C79A3-3AF6-2E6B-D76B-7D4833579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5A08E-03C1-A0B8-DC09-8F6A8FAAB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95F57-9B06-192A-83C8-9733698F1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C2DC0-93E1-6E27-7828-91CB6A3D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68352-F504-0DF5-8C83-2A4DEEAE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548B5-72CC-AA93-9EA6-9EF47082C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43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0CD7-3023-B011-CB7E-DD92A205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4CDE9-7397-AD66-8D4D-0B70F9FA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DBC16-14D6-C2A2-F81A-B5AF42D2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D674D-AB01-AA2F-6808-8E329F49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0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41E6B-46BE-A693-BFDD-46F0F2F0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B37C1-5B0D-8897-9FF4-085B6408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A7F06-6026-3C34-1506-794A5ECE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64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0721-38F5-E2F7-5E2D-D675AA44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C1D07-5261-61B1-84C8-2CD3FD2E1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BA3AD-08A9-2FFB-726A-747C8F060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753F5-D52A-8B3D-AD13-DC36D145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E3178A-5F22-62B8-D588-F155CDA8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18F40-B6EA-7340-44B7-1CC220F7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01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0CCE-5B98-5200-4999-5773CB3E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69AED-D890-8D90-6BE3-683BB4CDC6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4DA64-8B5C-7262-852D-E7684AC1A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83334-EF84-0725-B2CB-D9E14FBE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B423C-36D9-86B8-DFB1-0EE2F299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60E38-2B12-6F9A-E007-7C0F9050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69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B721-8F98-F41B-88DB-164C557E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7AB19-94CA-BE3D-C92A-300F0C4B8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8461-4573-6E64-70A9-F6B05F1E5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12BD-F5BE-4293-507B-6CA3C9EA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66A9D-8B37-D07A-0B16-BD914194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87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EC777-7D49-C359-C79D-C93E15E07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E6B06-4FFC-CB66-F010-EA6498FA41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263FF-E854-E492-5F02-01F821F1F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15DDE-56E9-96CE-27CF-A839B8A39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FBE73-714B-09BC-78FB-8B53CFDE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01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A70829-723B-A64E-A5BB-8E781780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2C6A8-038E-2B75-3994-8EA153822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F7599-147E-B611-6878-019368602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7DEEB-51C8-4CB4-8933-FFB9F010D5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9EB5E-FBCB-AD99-D3AB-8238D8A59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B6514-A1C2-9432-4AA1-0BF4DC894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298DD-AFB7-420A-A2A0-40A0D7EAE5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068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50F7877-D14D-CE33-BABE-BA7530F04428}"/>
              </a:ext>
            </a:extLst>
          </p:cNvPr>
          <p:cNvSpPr/>
          <p:nvPr/>
        </p:nvSpPr>
        <p:spPr>
          <a:xfrm>
            <a:off x="70336" y="656992"/>
            <a:ext cx="5642206" cy="60763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C41A8383-7C1B-0260-5DEA-479FBA3C76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779" y="1069027"/>
            <a:ext cx="9833810" cy="26364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E2C7F-4E9F-9378-F9AE-B148FB643815}"/>
              </a:ext>
            </a:extLst>
          </p:cNvPr>
          <p:cNvSpPr txBox="1"/>
          <p:nvPr/>
        </p:nvSpPr>
        <p:spPr>
          <a:xfrm>
            <a:off x="1789471" y="4149213"/>
            <a:ext cx="8766234" cy="88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 indent="-635" algn="ctr">
              <a:lnSpc>
                <a:spcPts val="1680"/>
              </a:lnSpc>
              <a:spcBef>
                <a:spcPts val="434"/>
              </a:spcBef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Diabetes and heart disease Prediction Using</a:t>
            </a:r>
          </a:p>
          <a:p>
            <a:pPr marL="12700" marR="5080" indent="-635" algn="ctr">
              <a:lnSpc>
                <a:spcPts val="1680"/>
              </a:lnSpc>
              <a:spcBef>
                <a:spcPts val="434"/>
              </a:spcBef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  <a:p>
            <a:pPr marL="12700" marR="5080" indent="-635" algn="ctr">
              <a:lnSpc>
                <a:spcPts val="1680"/>
              </a:lnSpc>
              <a:spcBef>
                <a:spcPts val="434"/>
              </a:spcBef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Machine Learning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20CE9-BED4-3B02-50C1-25EF5E974334}"/>
              </a:ext>
            </a:extLst>
          </p:cNvPr>
          <p:cNvSpPr txBox="1"/>
          <p:nvPr/>
        </p:nvSpPr>
        <p:spPr>
          <a:xfrm>
            <a:off x="7865806" y="5153392"/>
            <a:ext cx="346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Futuristic Approach to </a:t>
            </a:r>
            <a:r>
              <a:rPr lang="en-US" dirty="0">
                <a:solidFill>
                  <a:srgbClr val="0070C0"/>
                </a:solidFill>
              </a:rPr>
              <a:t>Healthcare</a:t>
            </a: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04657DAE-83A6-6591-2DAC-44C6FEFD4F7A}"/>
              </a:ext>
            </a:extLst>
          </p:cNvPr>
          <p:cNvSpPr/>
          <p:nvPr/>
        </p:nvSpPr>
        <p:spPr>
          <a:xfrm>
            <a:off x="6390968" y="5113178"/>
            <a:ext cx="5670388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220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413134E-6BAF-0F77-E904-2FCCF63A4DCC}"/>
              </a:ext>
            </a:extLst>
          </p:cNvPr>
          <p:cNvSpPr/>
          <p:nvPr/>
        </p:nvSpPr>
        <p:spPr>
          <a:xfrm>
            <a:off x="70337" y="656992"/>
            <a:ext cx="6025663" cy="80427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0B90A1-FE86-6DA8-03BA-C4B064F9B17A}"/>
              </a:ext>
            </a:extLst>
          </p:cNvPr>
          <p:cNvSpPr/>
          <p:nvPr/>
        </p:nvSpPr>
        <p:spPr>
          <a:xfrm>
            <a:off x="6096000" y="6007511"/>
            <a:ext cx="6096001" cy="81346"/>
          </a:xfrm>
          <a:custGeom>
            <a:avLst/>
            <a:gdLst/>
            <a:ahLst/>
            <a:cxnLst/>
            <a:rect l="l" t="t" r="r" b="b"/>
            <a:pathLst>
              <a:path w="2483485" h="36830">
                <a:moveTo>
                  <a:pt x="2482989" y="0"/>
                </a:moveTo>
                <a:lnTo>
                  <a:pt x="0" y="0"/>
                </a:lnTo>
                <a:lnTo>
                  <a:pt x="0" y="36525"/>
                </a:lnTo>
                <a:lnTo>
                  <a:pt x="2482989" y="36525"/>
                </a:lnTo>
                <a:lnTo>
                  <a:pt x="24829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F716D-BE1F-FCD7-D971-AF12D25D726C}"/>
              </a:ext>
            </a:extLst>
          </p:cNvPr>
          <p:cNvSpPr/>
          <p:nvPr/>
        </p:nvSpPr>
        <p:spPr>
          <a:xfrm>
            <a:off x="70338" y="995900"/>
            <a:ext cx="4049378" cy="646331"/>
          </a:xfrm>
          <a:prstGeom prst="rect">
            <a:avLst/>
          </a:prstGeom>
          <a:noFill/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PRESENTED BY -</a:t>
            </a:r>
            <a:endParaRPr lang="en-US" sz="3600" b="1" cap="none" spc="0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67BA2C-B011-7612-052B-3D89895F9334}"/>
              </a:ext>
            </a:extLst>
          </p:cNvPr>
          <p:cNvSpPr txBox="1"/>
          <p:nvPr/>
        </p:nvSpPr>
        <p:spPr>
          <a:xfrm>
            <a:off x="3184812" y="1666626"/>
            <a:ext cx="34519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Manas Bhunia -10300224222</a:t>
            </a:r>
          </a:p>
          <a:p>
            <a:pPr marL="228600" indent="-228600">
              <a:buAutoNum type="arabicPeriod"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effectLst/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Nibedita Maji -10300224227</a:t>
            </a:r>
          </a:p>
          <a:p>
            <a:pPr marL="228600" indent="-228600">
              <a:buAutoNum type="arabicPeriod"/>
            </a:pPr>
            <a:r>
              <a:rPr lang="en-US" sz="2000" i="1" dirty="0">
                <a:solidFill>
                  <a:schemeClr val="accent4">
                    <a:lumMod val="75000"/>
                  </a:schemeClr>
                </a:solidFill>
                <a:latin typeface="Bell MT" panose="020205030603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Irfana Khatun -10300224220</a:t>
            </a:r>
            <a:endParaRPr lang="en-IN" sz="2000" dirty="0">
              <a:solidFill>
                <a:schemeClr val="accent4">
                  <a:lumMod val="75000"/>
                </a:schemeClr>
              </a:solidFill>
              <a:effectLst/>
              <a:latin typeface="Bell MT" panose="0202050306030502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27DEF3-F0B1-7FB9-418B-5AC9A673BEC7}"/>
              </a:ext>
            </a:extLst>
          </p:cNvPr>
          <p:cNvSpPr/>
          <p:nvPr/>
        </p:nvSpPr>
        <p:spPr>
          <a:xfrm>
            <a:off x="412955" y="3576910"/>
            <a:ext cx="2884774" cy="646331"/>
          </a:xfrm>
          <a:prstGeom prst="rect">
            <a:avLst/>
          </a:prstGeom>
          <a:noFill/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GUIDED BY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EF872-BEC7-0AA8-630C-54B0517E4DDB}"/>
              </a:ext>
            </a:extLst>
          </p:cNvPr>
          <p:cNvSpPr txBox="1"/>
          <p:nvPr/>
        </p:nvSpPr>
        <p:spPr>
          <a:xfrm>
            <a:off x="3411793" y="4268161"/>
            <a:ext cx="57420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3200" b="1" dirty="0">
                <a:solidFill>
                  <a:schemeClr val="accent4">
                    <a:lumMod val="75000"/>
                  </a:schemeClr>
                </a:solidFill>
              </a:rPr>
              <a:t>Mr. Debasis Sahoo</a:t>
            </a:r>
          </a:p>
          <a:p>
            <a:r>
              <a:rPr lang="en-IN" sz="2800" dirty="0"/>
              <a:t>		</a:t>
            </a:r>
            <a:r>
              <a:rPr lang="en-IN" b="1" dirty="0"/>
              <a:t>(Industrial Trainer)</a:t>
            </a:r>
          </a:p>
          <a:p>
            <a:r>
              <a:rPr lang="en-IN" sz="1200" dirty="0"/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4DBB5-EBCB-0337-201F-D403BC57D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987" y="737419"/>
            <a:ext cx="1987207" cy="1484671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9115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07C6C764-364C-D026-9F0E-C5215DB7B7AC}"/>
              </a:ext>
            </a:extLst>
          </p:cNvPr>
          <p:cNvSpPr/>
          <p:nvPr/>
        </p:nvSpPr>
        <p:spPr>
          <a:xfrm>
            <a:off x="70337" y="656992"/>
            <a:ext cx="6025663" cy="70595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93230FEE-DCF5-49D7-AE33-B15CFA5CBA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543" y="3877288"/>
            <a:ext cx="9497960" cy="2253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B9F4D2-40A0-C31B-1EC9-796849409823}"/>
              </a:ext>
            </a:extLst>
          </p:cNvPr>
          <p:cNvSpPr/>
          <p:nvPr/>
        </p:nvSpPr>
        <p:spPr>
          <a:xfrm>
            <a:off x="565279" y="727587"/>
            <a:ext cx="441967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Introduction</a:t>
            </a:r>
            <a:endParaRPr lang="en-IN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ACF3C-748C-D0A3-6222-419B07F5F499}"/>
              </a:ext>
            </a:extLst>
          </p:cNvPr>
          <p:cNvSpPr txBox="1"/>
          <p:nvPr/>
        </p:nvSpPr>
        <p:spPr>
          <a:xfrm>
            <a:off x="4916129" y="1209368"/>
            <a:ext cx="64499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Diabetes and Heart disease are major health problems worldwide.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Early prediction helps in timely treatment and prevention.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Machine Learning (</a:t>
            </a:r>
            <a:r>
              <a:rPr lang="en-IN" sz="2400" b="1" dirty="0"/>
              <a:t>ML</a:t>
            </a:r>
            <a:r>
              <a:rPr lang="en-IN" sz="2400" dirty="0"/>
              <a:t>) can </a:t>
            </a:r>
            <a:r>
              <a:rPr lang="en-IN" sz="2400" dirty="0" err="1"/>
              <a:t>analyze</a:t>
            </a:r>
            <a:r>
              <a:rPr lang="en-IN" sz="2400" dirty="0"/>
              <a:t> medical data and predict disease accurately.</a:t>
            </a:r>
          </a:p>
        </p:txBody>
      </p:sp>
    </p:spTree>
    <p:extLst>
      <p:ext uri="{BB962C8B-B14F-4D97-AF65-F5344CB8AC3E}">
        <p14:creationId xmlns:p14="http://schemas.microsoft.com/office/powerpoint/2010/main" val="111221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1884845-6202-FE7F-DEB6-2DAA84FD592A}"/>
              </a:ext>
            </a:extLst>
          </p:cNvPr>
          <p:cNvSpPr/>
          <p:nvPr/>
        </p:nvSpPr>
        <p:spPr>
          <a:xfrm>
            <a:off x="70337" y="656992"/>
            <a:ext cx="6025663" cy="70595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0F9B9-5ABC-2417-456D-80E412FC2F8F}"/>
              </a:ext>
            </a:extLst>
          </p:cNvPr>
          <p:cNvSpPr txBox="1"/>
          <p:nvPr/>
        </p:nvSpPr>
        <p:spPr>
          <a:xfrm>
            <a:off x="294968" y="884903"/>
            <a:ext cx="4326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EAF271-C2D0-2546-FEDB-CB5E0F0F3572}"/>
              </a:ext>
            </a:extLst>
          </p:cNvPr>
          <p:cNvSpPr txBox="1"/>
          <p:nvPr/>
        </p:nvSpPr>
        <p:spPr>
          <a:xfrm>
            <a:off x="452284" y="3215148"/>
            <a:ext cx="633197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Difficulty in early detection using traditional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Need for an automated and accurate prediction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Predict </a:t>
            </a:r>
            <a:r>
              <a:rPr lang="en-IN" sz="2400" dirty="0" err="1"/>
              <a:t>wheather</a:t>
            </a:r>
            <a:r>
              <a:rPr lang="en-IN" sz="2400" dirty="0"/>
              <a:t> a person is likely to have: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Diabetes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Heart Disease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D6BBD-FAC5-4FCE-832A-6CB6DBB25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413" y="1305691"/>
            <a:ext cx="4729316" cy="307949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2520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AE84BBA6-2978-50B3-5615-0319B512B3B9}"/>
              </a:ext>
            </a:extLst>
          </p:cNvPr>
          <p:cNvSpPr/>
          <p:nvPr/>
        </p:nvSpPr>
        <p:spPr>
          <a:xfrm>
            <a:off x="70337" y="656992"/>
            <a:ext cx="6764592" cy="50931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4625DC-3701-5B4C-C3F6-2C5FE3B9AD9C}"/>
              </a:ext>
            </a:extLst>
          </p:cNvPr>
          <p:cNvSpPr txBox="1"/>
          <p:nvPr/>
        </p:nvSpPr>
        <p:spPr>
          <a:xfrm>
            <a:off x="147483" y="807120"/>
            <a:ext cx="351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8C4F1-B8E2-D482-BA3C-5F2A2F9B5D66}"/>
              </a:ext>
            </a:extLst>
          </p:cNvPr>
          <p:cNvSpPr txBox="1"/>
          <p:nvPr/>
        </p:nvSpPr>
        <p:spPr>
          <a:xfrm>
            <a:off x="2625214" y="4451498"/>
            <a:ext cx="6764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build a prediction model using 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patient health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To improve  early diagnosis and reduce heath risks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3372F97-6DF6-64D2-D635-23261C3B4816}"/>
              </a:ext>
            </a:extLst>
          </p:cNvPr>
          <p:cNvSpPr/>
          <p:nvPr/>
        </p:nvSpPr>
        <p:spPr>
          <a:xfrm flipV="1">
            <a:off x="4955458" y="5982929"/>
            <a:ext cx="7093975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F9ED1-FAEF-7E1C-3F28-D93D29BA6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065" y="1591253"/>
            <a:ext cx="5751869" cy="23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7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5FA9C413-35C9-F6C4-2758-6F293423BBFF}"/>
              </a:ext>
            </a:extLst>
          </p:cNvPr>
          <p:cNvSpPr/>
          <p:nvPr/>
        </p:nvSpPr>
        <p:spPr>
          <a:xfrm flipV="1">
            <a:off x="20911" y="635818"/>
            <a:ext cx="5603141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FFB9E6-6953-8FDF-F2E2-160E16F27411}"/>
              </a:ext>
            </a:extLst>
          </p:cNvPr>
          <p:cNvSpPr/>
          <p:nvPr/>
        </p:nvSpPr>
        <p:spPr>
          <a:xfrm>
            <a:off x="421377" y="737875"/>
            <a:ext cx="28238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i="0" dirty="0">
                <a:ln w="0"/>
                <a:solidFill>
                  <a:schemeClr val="accent1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öhne"/>
              </a:rPr>
              <a:t>Aim of the Project</a:t>
            </a:r>
            <a:endParaRPr lang="en-US" sz="2800" dirty="0">
              <a:ln w="0"/>
              <a:solidFill>
                <a:schemeClr val="accent1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A79B98-11C0-C31E-A64B-8C5DD01026D0}"/>
              </a:ext>
            </a:extLst>
          </p:cNvPr>
          <p:cNvSpPr txBox="1"/>
          <p:nvPr/>
        </p:nvSpPr>
        <p:spPr>
          <a:xfrm>
            <a:off x="914400" y="2544982"/>
            <a:ext cx="4257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Our primary aim is to 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predict diabetes 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accurately, with a specific focus on diabetes.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dirty="0">
              <a:solidFill>
                <a:srgbClr val="374151"/>
              </a:solidFill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the future we will add more different types of diseases here for the improvement of health care.</a:t>
            </a:r>
            <a:endParaRPr lang="en-IN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7DC7B-4591-CB32-F3B1-BB079FDC4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524" y="799693"/>
            <a:ext cx="5476566" cy="4867129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172F3044-652E-F5C2-8EDE-B72BAA565137}"/>
              </a:ext>
            </a:extLst>
          </p:cNvPr>
          <p:cNvSpPr/>
          <p:nvPr/>
        </p:nvSpPr>
        <p:spPr>
          <a:xfrm flipV="1">
            <a:off x="5171769" y="6058307"/>
            <a:ext cx="6931078" cy="45720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7983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927436D8-5CC3-3AF8-5AFE-EA36731F5E32}"/>
              </a:ext>
            </a:extLst>
          </p:cNvPr>
          <p:cNvSpPr/>
          <p:nvPr/>
        </p:nvSpPr>
        <p:spPr>
          <a:xfrm>
            <a:off x="70337" y="656992"/>
            <a:ext cx="6025663" cy="70595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13DF6-C6EE-CBFA-B4CD-41B074A25CC4}"/>
              </a:ext>
            </a:extLst>
          </p:cNvPr>
          <p:cNvSpPr txBox="1"/>
          <p:nvPr/>
        </p:nvSpPr>
        <p:spPr>
          <a:xfrm>
            <a:off x="698091" y="747252"/>
            <a:ext cx="5574890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DATASETS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92460-AAAF-C70E-7D2E-9FB03D0B9AA9}"/>
              </a:ext>
            </a:extLst>
          </p:cNvPr>
          <p:cNvSpPr txBox="1"/>
          <p:nvPr/>
        </p:nvSpPr>
        <p:spPr>
          <a:xfrm>
            <a:off x="698091" y="1936955"/>
            <a:ext cx="62139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Diabetes dataset(PIMA Indian Dataset):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Glucose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Blood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Insulin</a:t>
            </a:r>
          </a:p>
          <a:p>
            <a:r>
              <a:rPr lang="en-IN" sz="2000" dirty="0"/>
              <a:t>Heart Disease Dataset(UCI </a:t>
            </a:r>
            <a:r>
              <a:rPr lang="en-IN" sz="2000" dirty="0" err="1"/>
              <a:t>DataSet</a:t>
            </a:r>
            <a:r>
              <a:rPr lang="en-IN" sz="2000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Age,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Cholesterol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Blood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Chest pain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ECG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1C38C-EFEA-58C3-43FA-449A3575D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065" y="2202542"/>
            <a:ext cx="6430297" cy="32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4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F87D9186-19F4-02FC-DBAA-AAC97396665E}"/>
              </a:ext>
            </a:extLst>
          </p:cNvPr>
          <p:cNvSpPr/>
          <p:nvPr/>
        </p:nvSpPr>
        <p:spPr>
          <a:xfrm flipV="1">
            <a:off x="70336" y="727587"/>
            <a:ext cx="6566437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85775-6E8E-DE7D-794B-523C89172186}"/>
              </a:ext>
            </a:extLst>
          </p:cNvPr>
          <p:cNvSpPr txBox="1"/>
          <p:nvPr/>
        </p:nvSpPr>
        <p:spPr>
          <a:xfrm>
            <a:off x="678426" y="727587"/>
            <a:ext cx="3451123" cy="52322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E337F5-05E0-FBAF-4500-13C662AE488F}"/>
              </a:ext>
            </a:extLst>
          </p:cNvPr>
          <p:cNvSpPr txBox="1"/>
          <p:nvPr/>
        </p:nvSpPr>
        <p:spPr>
          <a:xfrm>
            <a:off x="1553496" y="2613392"/>
            <a:ext cx="49013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MODEL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</a:rPr>
              <a:t>PREDICTION AND EVOLUTION</a:t>
            </a:r>
          </a:p>
        </p:txBody>
      </p:sp>
      <p:sp>
        <p:nvSpPr>
          <p:cNvPr id="3" name="object 5">
            <a:extLst>
              <a:ext uri="{FF2B5EF4-FFF2-40B4-BE49-F238E27FC236}">
                <a16:creationId xmlns:a16="http://schemas.microsoft.com/office/drawing/2014/main" id="{08D3570F-3B47-B475-C6F1-7A3489283487}"/>
              </a:ext>
            </a:extLst>
          </p:cNvPr>
          <p:cNvSpPr/>
          <p:nvPr/>
        </p:nvSpPr>
        <p:spPr>
          <a:xfrm>
            <a:off x="5043948" y="5911763"/>
            <a:ext cx="7077715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002A33-BF3C-6C26-A844-BB16FBC5C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876" y="1828800"/>
            <a:ext cx="4606414" cy="28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7022DBF7-BD00-552B-2ADF-2E5169124741}"/>
              </a:ext>
            </a:extLst>
          </p:cNvPr>
          <p:cNvSpPr/>
          <p:nvPr/>
        </p:nvSpPr>
        <p:spPr>
          <a:xfrm flipV="1">
            <a:off x="70337" y="661197"/>
            <a:ext cx="6507444" cy="45719"/>
          </a:xfrm>
          <a:custGeom>
            <a:avLst/>
            <a:gdLst/>
            <a:ahLst/>
            <a:cxnLst/>
            <a:rect l="l" t="t" r="r" b="b"/>
            <a:pathLst>
              <a:path w="2485390" h="36829">
                <a:moveTo>
                  <a:pt x="2485161" y="0"/>
                </a:moveTo>
                <a:lnTo>
                  <a:pt x="0" y="0"/>
                </a:lnTo>
                <a:lnTo>
                  <a:pt x="0" y="36525"/>
                </a:lnTo>
                <a:lnTo>
                  <a:pt x="2485161" y="36525"/>
                </a:lnTo>
                <a:lnTo>
                  <a:pt x="2485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78378-ADEE-BA4B-165F-1913A553DC72}"/>
              </a:ext>
            </a:extLst>
          </p:cNvPr>
          <p:cNvSpPr txBox="1"/>
          <p:nvPr/>
        </p:nvSpPr>
        <p:spPr>
          <a:xfrm>
            <a:off x="157316" y="783465"/>
            <a:ext cx="420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</a:rPr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7A27C2-E265-F30E-43AC-05ADBBBB5FA0}"/>
              </a:ext>
            </a:extLst>
          </p:cNvPr>
          <p:cNvSpPr txBox="1"/>
          <p:nvPr/>
        </p:nvSpPr>
        <p:spPr>
          <a:xfrm>
            <a:off x="629265" y="2477729"/>
            <a:ext cx="4965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User inputs health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ML model processes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System predicts: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2">
                    <a:lumMod val="50000"/>
                  </a:schemeClr>
                </a:solidFill>
              </a:rPr>
              <a:t>Diabetes/Non-diabetes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accent2">
                    <a:lumMod val="50000"/>
                  </a:schemeClr>
                </a:solidFill>
              </a:rPr>
              <a:t>Heart Disease/Non- Heart Disease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5A40E-A30E-EF4E-5551-A24CC5EB7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554" y="1445343"/>
            <a:ext cx="4719485" cy="341279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31BFCB0-68E8-0CCC-A8AF-AE9C46418AEC}"/>
              </a:ext>
            </a:extLst>
          </p:cNvPr>
          <p:cNvSpPr/>
          <p:nvPr/>
        </p:nvSpPr>
        <p:spPr>
          <a:xfrm flipV="1">
            <a:off x="5810866" y="6041923"/>
            <a:ext cx="6341806" cy="45719"/>
          </a:xfrm>
          <a:custGeom>
            <a:avLst/>
            <a:gdLst/>
            <a:ahLst/>
            <a:cxnLst/>
            <a:rect l="l" t="t" r="r" b="b"/>
            <a:pathLst>
              <a:path w="2485390" h="36829">
                <a:moveTo>
                  <a:pt x="2485161" y="0"/>
                </a:moveTo>
                <a:lnTo>
                  <a:pt x="0" y="0"/>
                </a:lnTo>
                <a:lnTo>
                  <a:pt x="0" y="36525"/>
                </a:lnTo>
                <a:lnTo>
                  <a:pt x="2485161" y="36525"/>
                </a:lnTo>
                <a:lnTo>
                  <a:pt x="2485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003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348AB37-7A40-40BF-FA50-E09AAD14E9F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9729" y="1759974"/>
            <a:ext cx="4522837" cy="4257367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C2AE692E-B575-D993-6C6A-F26EA4C86E0F}"/>
              </a:ext>
            </a:extLst>
          </p:cNvPr>
          <p:cNvSpPr/>
          <p:nvPr/>
        </p:nvSpPr>
        <p:spPr>
          <a:xfrm flipV="1">
            <a:off x="70337" y="648929"/>
            <a:ext cx="5524217" cy="57988"/>
          </a:xfrm>
          <a:custGeom>
            <a:avLst/>
            <a:gdLst/>
            <a:ahLst/>
            <a:cxnLst/>
            <a:rect l="l" t="t" r="r" b="b"/>
            <a:pathLst>
              <a:path w="2485390" h="36829">
                <a:moveTo>
                  <a:pt x="2485161" y="0"/>
                </a:moveTo>
                <a:lnTo>
                  <a:pt x="0" y="0"/>
                </a:lnTo>
                <a:lnTo>
                  <a:pt x="0" y="36525"/>
                </a:lnTo>
                <a:lnTo>
                  <a:pt x="2485161" y="36525"/>
                </a:lnTo>
                <a:lnTo>
                  <a:pt x="2485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2B0EA6-75B9-B0F8-4084-9A5FD9D92EBB}"/>
              </a:ext>
            </a:extLst>
          </p:cNvPr>
          <p:cNvSpPr/>
          <p:nvPr/>
        </p:nvSpPr>
        <p:spPr>
          <a:xfrm>
            <a:off x="70337" y="840064"/>
            <a:ext cx="3258457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Why Machine Learning?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02047-97A4-D97D-A920-5539A9C3A1DB}"/>
              </a:ext>
            </a:extLst>
          </p:cNvPr>
          <p:cNvSpPr txBox="1"/>
          <p:nvPr/>
        </p:nvSpPr>
        <p:spPr>
          <a:xfrm>
            <a:off x="206477" y="2358207"/>
            <a:ext cx="622365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Machine learning </a:t>
            </a:r>
            <a:r>
              <a:rPr lang="en-US" sz="2000" dirty="0"/>
              <a:t>enhances our ability to analyze complex health data, leading to more accurate and efficient predictions by using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Logistic regression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Decision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Random forest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Support vector machine (</a:t>
            </a:r>
            <a:r>
              <a:rPr lang="en-US" sz="2000" b="1" dirty="0"/>
              <a:t>SVM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06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5A67615C-1FE4-0C7C-58AC-0173F132AC05}"/>
              </a:ext>
            </a:extLst>
          </p:cNvPr>
          <p:cNvSpPr/>
          <p:nvPr/>
        </p:nvSpPr>
        <p:spPr>
          <a:xfrm>
            <a:off x="70337" y="656992"/>
            <a:ext cx="5130928" cy="80427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BE875-C3E1-6B87-1194-01A5C0AB0CCD}"/>
              </a:ext>
            </a:extLst>
          </p:cNvPr>
          <p:cNvSpPr txBox="1"/>
          <p:nvPr/>
        </p:nvSpPr>
        <p:spPr>
          <a:xfrm>
            <a:off x="-13237" y="776748"/>
            <a:ext cx="529807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Verdana"/>
                <a:cs typeface="Verdana"/>
              </a:rPr>
              <a:t>	</a:t>
            </a:r>
            <a:r>
              <a:rPr lang="en-IN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Verdana"/>
                <a:cs typeface="Verdana"/>
              </a:rPr>
              <a:t>Understanding </a:t>
            </a:r>
          </a:p>
          <a:p>
            <a:r>
              <a:rPr lang="en-IN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Verdana"/>
                <a:cs typeface="Verdana"/>
              </a:rPr>
              <a:t>	     Disease</a:t>
            </a:r>
            <a:endParaRPr lang="en-IN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en-IN" dirty="0"/>
          </a:p>
        </p:txBody>
      </p:sp>
      <p:pic>
        <p:nvPicPr>
          <p:cNvPr id="10" name="object 2">
            <a:extLst>
              <a:ext uri="{FF2B5EF4-FFF2-40B4-BE49-F238E27FC236}">
                <a16:creationId xmlns:a16="http://schemas.microsoft.com/office/drawing/2014/main" id="{22DB71A9-DF0C-A83C-001D-3F2E293967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654" y="3429000"/>
            <a:ext cx="4937862" cy="2772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2BB037-BFF4-934F-AF3F-FF5C160E5D97}"/>
              </a:ext>
            </a:extLst>
          </p:cNvPr>
          <p:cNvSpPr txBox="1"/>
          <p:nvPr/>
        </p:nvSpPr>
        <p:spPr>
          <a:xfrm>
            <a:off x="5525729" y="1196093"/>
            <a:ext cx="5633883" cy="1569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5" dirty="0">
                <a:latin typeface="Verdana"/>
                <a:cs typeface="Verdana"/>
              </a:rPr>
              <a:t>Before </a:t>
            </a:r>
            <a:r>
              <a:rPr lang="en-US" sz="1400" spc="15" dirty="0">
                <a:latin typeface="Verdana"/>
                <a:cs typeface="Verdana"/>
              </a:rPr>
              <a:t>delving into </a:t>
            </a:r>
            <a:r>
              <a:rPr lang="en-US" sz="1400" b="1" spc="-30" dirty="0">
                <a:latin typeface="Verdana"/>
                <a:cs typeface="Verdana"/>
              </a:rPr>
              <a:t>machine </a:t>
            </a:r>
            <a:r>
              <a:rPr lang="en-US" sz="1400" b="1" spc="-40" dirty="0">
                <a:latin typeface="Verdana"/>
                <a:cs typeface="Verdana"/>
              </a:rPr>
              <a:t>learning </a:t>
            </a:r>
            <a:r>
              <a:rPr lang="en-US" sz="1400" b="1" spc="-35" dirty="0">
                <a:latin typeface="Verdana"/>
                <a:cs typeface="Verdana"/>
              </a:rPr>
              <a:t> </a:t>
            </a:r>
            <a:r>
              <a:rPr lang="en-US" sz="1400" spc="25" dirty="0">
                <a:latin typeface="Verdana"/>
                <a:cs typeface="Verdana"/>
              </a:rPr>
              <a:t>appl</a:t>
            </a:r>
            <a:r>
              <a:rPr lang="en-US" sz="1400" spc="10" dirty="0">
                <a:latin typeface="Verdana"/>
                <a:cs typeface="Verdana"/>
              </a:rPr>
              <a:t>ica</a:t>
            </a:r>
            <a:r>
              <a:rPr lang="en-US" sz="1400" spc="5" dirty="0">
                <a:latin typeface="Verdana"/>
                <a:cs typeface="Verdana"/>
              </a:rPr>
              <a:t>ti</a:t>
            </a:r>
            <a:r>
              <a:rPr lang="en-US" sz="1400" spc="15" dirty="0">
                <a:latin typeface="Verdana"/>
                <a:cs typeface="Verdana"/>
              </a:rPr>
              <a:t>o</a:t>
            </a:r>
            <a:r>
              <a:rPr lang="en-US" sz="1400" spc="45" dirty="0">
                <a:latin typeface="Verdana"/>
                <a:cs typeface="Verdana"/>
              </a:rPr>
              <a:t>n</a:t>
            </a:r>
            <a:r>
              <a:rPr lang="en-US" sz="1400" spc="-85" dirty="0">
                <a:latin typeface="Verdana"/>
                <a:cs typeface="Verdana"/>
              </a:rPr>
              <a:t>s, </a:t>
            </a:r>
            <a:r>
              <a:rPr lang="en-US" sz="1400" spc="-15" dirty="0">
                <a:latin typeface="Verdana"/>
                <a:cs typeface="Verdana"/>
              </a:rPr>
              <a:t>let’s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45" dirty="0">
                <a:latin typeface="Verdana"/>
                <a:cs typeface="Verdana"/>
              </a:rPr>
              <a:t>un</a:t>
            </a:r>
            <a:r>
              <a:rPr lang="en-US" sz="1400" spc="15" dirty="0">
                <a:latin typeface="Verdana"/>
                <a:cs typeface="Verdana"/>
              </a:rPr>
              <a:t>de</a:t>
            </a:r>
            <a:r>
              <a:rPr lang="en-US" sz="1400" spc="5" dirty="0">
                <a:latin typeface="Verdana"/>
                <a:cs typeface="Verdana"/>
              </a:rPr>
              <a:t>r</a:t>
            </a:r>
            <a:r>
              <a:rPr lang="en-US" sz="1400" spc="-30" dirty="0">
                <a:latin typeface="Verdana"/>
                <a:cs typeface="Verdana"/>
              </a:rPr>
              <a:t>s</a:t>
            </a:r>
            <a:r>
              <a:rPr lang="en-US" sz="1400" spc="5" dirty="0">
                <a:latin typeface="Verdana"/>
                <a:cs typeface="Verdana"/>
              </a:rPr>
              <a:t>ta</a:t>
            </a:r>
            <a:r>
              <a:rPr lang="en-US" sz="1400" spc="45" dirty="0">
                <a:latin typeface="Verdana"/>
                <a:cs typeface="Verdana"/>
              </a:rPr>
              <a:t>n</a:t>
            </a:r>
            <a:r>
              <a:rPr lang="en-US" sz="1400" spc="55" dirty="0">
                <a:latin typeface="Verdana"/>
                <a:cs typeface="Verdana"/>
              </a:rPr>
              <a:t>d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endParaRPr lang="en-US" sz="1400" spc="55" dirty="0">
              <a:latin typeface="Verdana"/>
              <a:cs typeface="Verdana"/>
            </a:endParaRP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30" dirty="0">
                <a:latin typeface="Verdana"/>
                <a:cs typeface="Verdana"/>
              </a:rPr>
              <a:t>th</a:t>
            </a:r>
            <a:r>
              <a:rPr lang="en-US" sz="1400" spc="5" dirty="0">
                <a:latin typeface="Verdana"/>
                <a:cs typeface="Verdana"/>
              </a:rPr>
              <a:t>e  </a:t>
            </a:r>
            <a:r>
              <a:rPr lang="en-US" sz="1400" spc="30" dirty="0">
                <a:latin typeface="Verdana"/>
                <a:cs typeface="Verdana"/>
              </a:rPr>
              <a:t>c</a:t>
            </a:r>
            <a:r>
              <a:rPr lang="en-US" sz="1400" spc="40" dirty="0">
                <a:latin typeface="Verdana"/>
                <a:cs typeface="Verdana"/>
              </a:rPr>
              <a:t>ompl</a:t>
            </a:r>
            <a:r>
              <a:rPr lang="en-US" sz="1400" spc="-5" dirty="0">
                <a:latin typeface="Verdana"/>
                <a:cs typeface="Verdana"/>
              </a:rPr>
              <a:t>e</a:t>
            </a:r>
            <a:r>
              <a:rPr lang="en-US" sz="1400" spc="-15" dirty="0">
                <a:latin typeface="Verdana"/>
                <a:cs typeface="Verdana"/>
              </a:rPr>
              <a:t>xiti</a:t>
            </a:r>
            <a:r>
              <a:rPr lang="en-US" sz="1400" spc="5" dirty="0">
                <a:latin typeface="Verdana"/>
                <a:cs typeface="Verdana"/>
              </a:rPr>
              <a:t>e</a:t>
            </a:r>
            <a:r>
              <a:rPr lang="en-US" sz="1400" spc="-30" dirty="0">
                <a:latin typeface="Verdana"/>
                <a:cs typeface="Verdana"/>
              </a:rPr>
              <a:t>s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5" dirty="0">
                <a:latin typeface="Verdana"/>
                <a:cs typeface="Verdana"/>
              </a:rPr>
              <a:t>of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b="1" spc="-40" dirty="0">
                <a:latin typeface="Verdana"/>
                <a:cs typeface="Verdana"/>
              </a:rPr>
              <a:t>d</a:t>
            </a:r>
            <a:r>
              <a:rPr lang="en-US" sz="1400" b="1" spc="-25" dirty="0">
                <a:latin typeface="Verdana"/>
                <a:cs typeface="Verdana"/>
              </a:rPr>
              <a:t>i</a:t>
            </a:r>
            <a:r>
              <a:rPr lang="en-US" sz="1400" b="1" spc="-55" dirty="0">
                <a:latin typeface="Verdana"/>
                <a:cs typeface="Verdana"/>
              </a:rPr>
              <a:t>a</a:t>
            </a:r>
            <a:r>
              <a:rPr lang="en-US" sz="1400" b="1" spc="-30" dirty="0">
                <a:latin typeface="Verdana"/>
                <a:cs typeface="Verdana"/>
              </a:rPr>
              <a:t>be</a:t>
            </a:r>
            <a:r>
              <a:rPr lang="en-US" sz="1400" b="1" spc="-40" dirty="0">
                <a:latin typeface="Verdana"/>
                <a:cs typeface="Verdana"/>
              </a:rPr>
              <a:t>t</a:t>
            </a:r>
            <a:r>
              <a:rPr lang="en-US" sz="1400" b="1" spc="-55" dirty="0">
                <a:latin typeface="Verdana"/>
                <a:cs typeface="Verdana"/>
              </a:rPr>
              <a:t>es and heart </a:t>
            </a:r>
            <a:r>
              <a:rPr lang="en-US" sz="1400" spc="-145" dirty="0">
                <a:latin typeface="Verdana"/>
                <a:cs typeface="Verdana"/>
              </a:rPr>
              <a:t>.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70" dirty="0">
                <a:latin typeface="Verdana"/>
                <a:cs typeface="Verdana"/>
              </a:rPr>
              <a:t>W</a:t>
            </a:r>
            <a:r>
              <a:rPr lang="en-US" sz="1400" spc="-15" dirty="0">
                <a:latin typeface="Verdana"/>
                <a:cs typeface="Verdana"/>
              </a:rPr>
              <a:t>e</a:t>
            </a:r>
            <a:r>
              <a:rPr lang="en-US" sz="1400" spc="-25" dirty="0">
                <a:latin typeface="Verdana"/>
                <a:cs typeface="Verdana"/>
              </a:rPr>
              <a:t>'ll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-5" dirty="0">
                <a:latin typeface="Verdana"/>
                <a:cs typeface="Verdana"/>
              </a:rPr>
              <a:t>e</a:t>
            </a:r>
            <a:r>
              <a:rPr lang="en-US" sz="1400" dirty="0">
                <a:latin typeface="Verdana"/>
                <a:cs typeface="Verdana"/>
              </a:rPr>
              <a:t>xplo</a:t>
            </a:r>
            <a:r>
              <a:rPr lang="en-US" sz="1400" spc="-15" dirty="0">
                <a:latin typeface="Verdana"/>
                <a:cs typeface="Verdana"/>
              </a:rPr>
              <a:t>r</a:t>
            </a:r>
            <a:r>
              <a:rPr lang="en-US" sz="1400" spc="10" dirty="0">
                <a:latin typeface="Verdana"/>
                <a:cs typeface="Verdana"/>
              </a:rPr>
              <a:t>e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30" dirty="0">
                <a:latin typeface="Verdana"/>
                <a:cs typeface="Verdana"/>
              </a:rPr>
              <a:t>th</a:t>
            </a:r>
            <a:r>
              <a:rPr lang="en-US" sz="1400" spc="5" dirty="0">
                <a:latin typeface="Verdana"/>
                <a:cs typeface="Verdana"/>
              </a:rPr>
              <a:t>e 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5" dirty="0">
                <a:latin typeface="Verdana"/>
                <a:cs typeface="Verdana"/>
              </a:rPr>
              <a:t> </a:t>
            </a:r>
            <a:r>
              <a:rPr lang="en-US" sz="1400" spc="30" dirty="0">
                <a:latin typeface="Verdana"/>
                <a:cs typeface="Verdana"/>
              </a:rPr>
              <a:t>impact </a:t>
            </a:r>
            <a:r>
              <a:rPr lang="en-US" sz="1400" spc="5" dirty="0">
                <a:latin typeface="Verdana"/>
                <a:cs typeface="Verdana"/>
              </a:rPr>
              <a:t>of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endParaRPr lang="en-US" sz="1400" spc="5" dirty="0">
              <a:latin typeface="Verdana"/>
              <a:cs typeface="Verdana"/>
            </a:endParaRP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5" dirty="0">
                <a:latin typeface="Verdana"/>
                <a:cs typeface="Verdana"/>
              </a:rPr>
              <a:t> </a:t>
            </a:r>
            <a:r>
              <a:rPr lang="en-US" sz="1400" spc="-25" dirty="0">
                <a:latin typeface="Verdana"/>
                <a:cs typeface="Verdana"/>
              </a:rPr>
              <a:t>lifestyle, </a:t>
            </a:r>
            <a:r>
              <a:rPr lang="en-US" sz="1400" dirty="0">
                <a:latin typeface="Verdana"/>
                <a:cs typeface="Verdana"/>
              </a:rPr>
              <a:t>genetics, </a:t>
            </a:r>
            <a:r>
              <a:rPr lang="en-US" sz="1400" spc="30" dirty="0">
                <a:latin typeface="Verdana"/>
                <a:cs typeface="Verdana"/>
              </a:rPr>
              <a:t>and </a:t>
            </a:r>
            <a:r>
              <a:rPr lang="en-US" sz="1400" spc="35" dirty="0">
                <a:latin typeface="Verdana"/>
                <a:cs typeface="Verdana"/>
              </a:rPr>
              <a:t> </a:t>
            </a:r>
            <a:r>
              <a:rPr lang="en-US" sz="1400" spc="25" dirty="0">
                <a:latin typeface="Verdana"/>
                <a:cs typeface="Verdana"/>
              </a:rPr>
              <a:t>e</a:t>
            </a:r>
            <a:r>
              <a:rPr lang="en-US" sz="1400" spc="20" dirty="0">
                <a:latin typeface="Verdana"/>
                <a:cs typeface="Verdana"/>
              </a:rPr>
              <a:t>n</a:t>
            </a:r>
            <a:r>
              <a:rPr lang="en-US" sz="1400" spc="-25" dirty="0">
                <a:latin typeface="Verdana"/>
                <a:cs typeface="Verdana"/>
              </a:rPr>
              <a:t>vi</a:t>
            </a:r>
            <a:r>
              <a:rPr lang="en-US" sz="1400" spc="-40" dirty="0">
                <a:latin typeface="Verdana"/>
                <a:cs typeface="Verdana"/>
              </a:rPr>
              <a:t>r</a:t>
            </a:r>
            <a:r>
              <a:rPr lang="en-US" sz="1400" spc="55" dirty="0">
                <a:latin typeface="Verdana"/>
                <a:cs typeface="Verdana"/>
              </a:rPr>
              <a:t>onm</a:t>
            </a:r>
            <a:r>
              <a:rPr lang="en-US" sz="1400" spc="10" dirty="0">
                <a:latin typeface="Verdana"/>
                <a:cs typeface="Verdana"/>
              </a:rPr>
              <a:t>ental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-20" dirty="0">
                <a:latin typeface="Verdana"/>
                <a:cs typeface="Verdana"/>
              </a:rPr>
              <a:t>f</a:t>
            </a:r>
            <a:r>
              <a:rPr lang="en-US" sz="1400" spc="-5" dirty="0">
                <a:latin typeface="Verdana"/>
                <a:cs typeface="Verdana"/>
              </a:rPr>
              <a:t>a</a:t>
            </a:r>
            <a:r>
              <a:rPr lang="en-US" sz="1400" spc="45" dirty="0">
                <a:latin typeface="Verdana"/>
                <a:cs typeface="Verdana"/>
              </a:rPr>
              <a:t>c</a:t>
            </a:r>
            <a:r>
              <a:rPr lang="en-US" sz="1400" spc="-5" dirty="0">
                <a:latin typeface="Verdana"/>
                <a:cs typeface="Verdana"/>
              </a:rPr>
              <a:t>t</a:t>
            </a:r>
            <a:r>
              <a:rPr lang="en-US" sz="1400" dirty="0">
                <a:latin typeface="Verdana"/>
                <a:cs typeface="Verdana"/>
              </a:rPr>
              <a:t>o</a:t>
            </a:r>
            <a:r>
              <a:rPr lang="en-US" sz="1400" spc="-5" dirty="0">
                <a:latin typeface="Verdana"/>
                <a:cs typeface="Verdana"/>
              </a:rPr>
              <a:t>r</a:t>
            </a:r>
            <a:r>
              <a:rPr lang="en-US" sz="1400" spc="-30" dirty="0">
                <a:latin typeface="Verdana"/>
                <a:cs typeface="Verdana"/>
              </a:rPr>
              <a:t>s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35" dirty="0">
                <a:latin typeface="Verdana"/>
                <a:cs typeface="Verdana"/>
              </a:rPr>
              <a:t>on</a:t>
            </a:r>
            <a:r>
              <a:rPr lang="en-US" sz="1400" spc="-85" dirty="0">
                <a:latin typeface="Verdana"/>
                <a:cs typeface="Verdana"/>
              </a:rPr>
              <a:t> </a:t>
            </a:r>
            <a:r>
              <a:rPr lang="en-US" sz="1400" spc="20" dirty="0">
                <a:latin typeface="Verdana"/>
                <a:cs typeface="Verdana"/>
              </a:rPr>
              <a:t>diabe</a:t>
            </a:r>
            <a:r>
              <a:rPr lang="en-US" sz="1400" spc="-5" dirty="0">
                <a:latin typeface="Verdana"/>
                <a:cs typeface="Verdana"/>
              </a:rPr>
              <a:t>t</a:t>
            </a:r>
            <a:r>
              <a:rPr lang="en-US" sz="1400" spc="5" dirty="0">
                <a:latin typeface="Verdana"/>
                <a:cs typeface="Verdana"/>
              </a:rPr>
              <a:t>e</a:t>
            </a:r>
            <a:r>
              <a:rPr lang="en-US" sz="1400" spc="-25" dirty="0">
                <a:latin typeface="Verdana"/>
                <a:cs typeface="Verdana"/>
              </a:rPr>
              <a:t>s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-25" dirty="0">
                <a:latin typeface="Verdana"/>
                <a:cs typeface="Verdana"/>
              </a:rPr>
              <a:t> </a:t>
            </a:r>
          </a:p>
          <a:p>
            <a:pPr marL="12700" marR="5080">
              <a:lnSpc>
                <a:spcPts val="1050"/>
              </a:lnSpc>
              <a:spcBef>
                <a:spcPts val="215"/>
              </a:spcBef>
            </a:pPr>
            <a:r>
              <a:rPr lang="en-US" sz="1400" spc="-25" dirty="0">
                <a:latin typeface="Verdana"/>
                <a:cs typeface="Verdana"/>
              </a:rPr>
              <a:t> </a:t>
            </a:r>
            <a:r>
              <a:rPr lang="en-US" sz="1400" spc="10" dirty="0">
                <a:latin typeface="Verdana"/>
                <a:cs typeface="Verdana"/>
              </a:rPr>
              <a:t>development.</a:t>
            </a:r>
            <a:endParaRPr lang="en-US" sz="1400" dirty="0">
              <a:latin typeface="Verdana"/>
              <a:cs typeface="Verdan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1A70D-0E38-A9B9-51A0-69A260E120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626" y="3429000"/>
            <a:ext cx="4689986" cy="284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15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32E710E7-3098-8D06-4CA0-5AEB6B7AC6DB}"/>
              </a:ext>
            </a:extLst>
          </p:cNvPr>
          <p:cNvSpPr/>
          <p:nvPr/>
        </p:nvSpPr>
        <p:spPr>
          <a:xfrm flipV="1">
            <a:off x="31749" y="705084"/>
            <a:ext cx="6762341" cy="45719"/>
          </a:xfrm>
          <a:custGeom>
            <a:avLst/>
            <a:gdLst/>
            <a:ahLst/>
            <a:cxnLst/>
            <a:rect l="l" t="t" r="r" b="b"/>
            <a:pathLst>
              <a:path w="2485390" h="36829">
                <a:moveTo>
                  <a:pt x="2485161" y="0"/>
                </a:moveTo>
                <a:lnTo>
                  <a:pt x="0" y="0"/>
                </a:lnTo>
                <a:lnTo>
                  <a:pt x="0" y="36525"/>
                </a:lnTo>
                <a:lnTo>
                  <a:pt x="2485161" y="36525"/>
                </a:lnTo>
                <a:lnTo>
                  <a:pt x="2485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95165-6F69-3CCB-0B0F-4381A12ECCC6}"/>
              </a:ext>
            </a:extLst>
          </p:cNvPr>
          <p:cNvSpPr txBox="1"/>
          <p:nvPr/>
        </p:nvSpPr>
        <p:spPr>
          <a:xfrm>
            <a:off x="31750" y="1266825"/>
            <a:ext cx="2485390" cy="243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5"/>
              </a:spcBef>
            </a:pPr>
            <a:r>
              <a:rPr lang="en-US" sz="1050" spc="-145" dirty="0">
                <a:latin typeface="Verdana"/>
                <a:cs typeface="Verdana"/>
              </a:rPr>
              <a:t>  </a:t>
            </a:r>
            <a:endParaRPr lang="en-US" sz="1050" dirty="0">
              <a:latin typeface="Verdana"/>
              <a:cs typeface="Verdana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1D81127-8EAE-9AF8-7D59-BC71D04A67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4869" y="1076233"/>
            <a:ext cx="3921053" cy="46854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1B92EF-5862-B83D-5745-236A068FE759}"/>
              </a:ext>
            </a:extLst>
          </p:cNvPr>
          <p:cNvSpPr/>
          <p:nvPr/>
        </p:nvSpPr>
        <p:spPr>
          <a:xfrm>
            <a:off x="-4229" y="699769"/>
            <a:ext cx="348845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32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USEFUL TOOLS</a:t>
            </a:r>
          </a:p>
        </p:txBody>
      </p:sp>
      <p:pic>
        <p:nvPicPr>
          <p:cNvPr id="6" name="Picture 2" descr="Visual Studio Code - Code Editing. Redefined">
            <a:extLst>
              <a:ext uri="{FF2B5EF4-FFF2-40B4-BE49-F238E27FC236}">
                <a16:creationId xmlns:a16="http://schemas.microsoft.com/office/drawing/2014/main" id="{5DCAD622-EA6E-2780-9C30-038CC7E3A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98" y="2026697"/>
            <a:ext cx="1327084" cy="96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12 Best Python Image Processing Libraries for Data Scientists">
            <a:extLst>
              <a:ext uri="{FF2B5EF4-FFF2-40B4-BE49-F238E27FC236}">
                <a16:creationId xmlns:a16="http://schemas.microsoft.com/office/drawing/2014/main" id="{EC496D4C-296B-0F92-2AEB-BEAE40250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537" y="1640952"/>
            <a:ext cx="1226779" cy="1174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ython (programming language) - Wikipedia">
            <a:extLst>
              <a:ext uri="{FF2B5EF4-FFF2-40B4-BE49-F238E27FC236}">
                <a16:creationId xmlns:a16="http://schemas.microsoft.com/office/drawing/2014/main" id="{3127E2BC-3F8D-E4EE-AFCE-26EC56AAF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90" y="3909410"/>
            <a:ext cx="1403449" cy="102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30,000+ Github Pictures | Download Free Images on Unsplash">
            <a:extLst>
              <a:ext uri="{FF2B5EF4-FFF2-40B4-BE49-F238E27FC236}">
                <a16:creationId xmlns:a16="http://schemas.microsoft.com/office/drawing/2014/main" id="{DEBE4699-3DB5-F59D-56DD-962BEBB53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600" y="3612442"/>
            <a:ext cx="1676619" cy="102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62C5A67-5219-A4F4-B7C5-F40A291486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5445" y="3244645"/>
            <a:ext cx="7934632" cy="2959509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4552533E-EB86-5959-92FD-023BC2137CE0}"/>
              </a:ext>
            </a:extLst>
          </p:cNvPr>
          <p:cNvSpPr txBox="1"/>
          <p:nvPr/>
        </p:nvSpPr>
        <p:spPr>
          <a:xfrm>
            <a:off x="6194323" y="882767"/>
            <a:ext cx="5781367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b="1" spc="5" dirty="0">
                <a:latin typeface="Verdana"/>
                <a:cs typeface="Verdana"/>
              </a:rPr>
              <a:t>P</a:t>
            </a:r>
            <a:r>
              <a:rPr sz="2400" b="1" spc="-65" dirty="0">
                <a:latin typeface="Verdana"/>
                <a:cs typeface="Verdana"/>
              </a:rPr>
              <a:t>r</a:t>
            </a:r>
            <a:r>
              <a:rPr sz="2400" b="1" spc="-20" dirty="0">
                <a:latin typeface="Verdana"/>
                <a:cs typeface="Verdana"/>
              </a:rPr>
              <a:t>e</a:t>
            </a:r>
            <a:r>
              <a:rPr sz="2400" b="1" spc="5" dirty="0">
                <a:latin typeface="Verdana"/>
                <a:cs typeface="Verdana"/>
              </a:rPr>
              <a:t>d</a:t>
            </a:r>
            <a:r>
              <a:rPr sz="2400" b="1" spc="-10" dirty="0">
                <a:latin typeface="Verdana"/>
                <a:cs typeface="Verdana"/>
              </a:rPr>
              <a:t>ic</a:t>
            </a:r>
            <a:r>
              <a:rPr sz="2400" b="1" spc="-20" dirty="0">
                <a:latin typeface="Verdana"/>
                <a:cs typeface="Verdana"/>
              </a:rPr>
              <a:t>t</a:t>
            </a:r>
            <a:r>
              <a:rPr sz="2400" b="1" spc="-30" dirty="0">
                <a:latin typeface="Verdana"/>
                <a:cs typeface="Verdana"/>
              </a:rPr>
              <a:t>i</a:t>
            </a:r>
            <a:r>
              <a:rPr sz="2400" b="1" spc="-70" dirty="0">
                <a:latin typeface="Verdana"/>
                <a:cs typeface="Verdana"/>
              </a:rPr>
              <a:t>v</a:t>
            </a:r>
            <a:r>
              <a:rPr sz="2400" b="1" spc="-15" dirty="0">
                <a:latin typeface="Verdana"/>
                <a:cs typeface="Verdana"/>
              </a:rPr>
              <a:t>e</a:t>
            </a:r>
            <a:r>
              <a:rPr sz="2400" b="1" spc="-50" dirty="0">
                <a:latin typeface="Verdana"/>
                <a:cs typeface="Verdana"/>
              </a:rPr>
              <a:t> </a:t>
            </a:r>
            <a:r>
              <a:rPr sz="2400" b="1" spc="35" dirty="0">
                <a:latin typeface="Verdana"/>
                <a:cs typeface="Verdana"/>
              </a:rPr>
              <a:t>M</a:t>
            </a:r>
            <a:r>
              <a:rPr sz="2400" b="1" spc="-20" dirty="0">
                <a:latin typeface="Verdana"/>
                <a:cs typeface="Verdana"/>
              </a:rPr>
              <a:t>o</a:t>
            </a:r>
            <a:r>
              <a:rPr sz="2400" b="1" dirty="0">
                <a:latin typeface="Verdana"/>
                <a:cs typeface="Verdana"/>
              </a:rPr>
              <a:t>d</a:t>
            </a:r>
            <a:r>
              <a:rPr sz="2400" b="1" spc="-5" dirty="0">
                <a:latin typeface="Verdana"/>
                <a:cs typeface="Verdana"/>
              </a:rPr>
              <a:t>e</a:t>
            </a:r>
            <a:r>
              <a:rPr sz="2400" b="1" spc="-25" dirty="0">
                <a:latin typeface="Verdana"/>
                <a:cs typeface="Verdana"/>
              </a:rPr>
              <a:t>lin</a:t>
            </a:r>
            <a:r>
              <a:rPr sz="2400" b="1" spc="20" dirty="0">
                <a:latin typeface="Verdana"/>
                <a:cs typeface="Verdana"/>
              </a:rPr>
              <a:t>g</a:t>
            </a:r>
            <a:r>
              <a:rPr sz="2400" b="1" spc="-50" dirty="0">
                <a:latin typeface="Verdana"/>
                <a:cs typeface="Verdana"/>
              </a:rPr>
              <a:t> </a:t>
            </a:r>
            <a:r>
              <a:rPr sz="2400" b="1" spc="-45" dirty="0">
                <a:latin typeface="Verdana"/>
                <a:cs typeface="Verdana"/>
              </a:rPr>
              <a:t>f</a:t>
            </a:r>
            <a:r>
              <a:rPr sz="2400" b="1" spc="-20" dirty="0">
                <a:latin typeface="Verdana"/>
                <a:cs typeface="Verdana"/>
              </a:rPr>
              <a:t>o</a:t>
            </a:r>
            <a:r>
              <a:rPr sz="2400" b="1" spc="-55" dirty="0">
                <a:latin typeface="Verdana"/>
                <a:cs typeface="Verdana"/>
              </a:rPr>
              <a:t>r</a:t>
            </a:r>
            <a:r>
              <a:rPr sz="2400" b="1" spc="-50" dirty="0">
                <a:latin typeface="Verdana"/>
                <a:cs typeface="Verdana"/>
              </a:rPr>
              <a:t> </a:t>
            </a:r>
            <a:r>
              <a:rPr sz="2400" b="1" spc="20" dirty="0">
                <a:latin typeface="Verdana"/>
                <a:cs typeface="Verdana"/>
              </a:rPr>
              <a:t>D</a:t>
            </a:r>
            <a:r>
              <a:rPr sz="2400" b="1" spc="-25" dirty="0">
                <a:latin typeface="Verdana"/>
                <a:cs typeface="Verdana"/>
              </a:rPr>
              <a:t>i</a:t>
            </a:r>
            <a:r>
              <a:rPr sz="2400" b="1" spc="-55" dirty="0">
                <a:latin typeface="Verdana"/>
                <a:cs typeface="Verdana"/>
              </a:rPr>
              <a:t>a</a:t>
            </a:r>
            <a:r>
              <a:rPr sz="2400" b="1" spc="5" dirty="0">
                <a:latin typeface="Verdana"/>
                <a:cs typeface="Verdana"/>
              </a:rPr>
              <a:t>b</a:t>
            </a:r>
            <a:r>
              <a:rPr sz="2400" b="1" spc="-20" dirty="0">
                <a:latin typeface="Verdana"/>
                <a:cs typeface="Verdana"/>
              </a:rPr>
              <a:t>e</a:t>
            </a:r>
            <a:r>
              <a:rPr sz="2400" b="1" spc="-35" dirty="0">
                <a:latin typeface="Verdana"/>
                <a:cs typeface="Verdana"/>
              </a:rPr>
              <a:t>t</a:t>
            </a:r>
            <a:r>
              <a:rPr sz="2400" b="1" spc="-20" dirty="0">
                <a:latin typeface="Verdana"/>
                <a:cs typeface="Verdana"/>
              </a:rPr>
              <a:t>e</a:t>
            </a:r>
            <a:r>
              <a:rPr sz="2400" b="1" spc="-55" dirty="0">
                <a:latin typeface="Verdana"/>
                <a:cs typeface="Verdana"/>
              </a:rPr>
              <a:t>s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1A78E2D6-BD89-34A4-7463-7452F90FE4C0}"/>
              </a:ext>
            </a:extLst>
          </p:cNvPr>
          <p:cNvSpPr/>
          <p:nvPr/>
        </p:nvSpPr>
        <p:spPr>
          <a:xfrm flipV="1">
            <a:off x="6194323" y="764822"/>
            <a:ext cx="5938683" cy="45719"/>
          </a:xfrm>
          <a:custGeom>
            <a:avLst/>
            <a:gdLst/>
            <a:ahLst/>
            <a:cxnLst/>
            <a:rect l="l" t="t" r="r" b="b"/>
            <a:pathLst>
              <a:path w="2443479" h="36829">
                <a:moveTo>
                  <a:pt x="2442934" y="0"/>
                </a:moveTo>
                <a:lnTo>
                  <a:pt x="0" y="0"/>
                </a:lnTo>
                <a:lnTo>
                  <a:pt x="0" y="36550"/>
                </a:lnTo>
                <a:lnTo>
                  <a:pt x="2442934" y="36550"/>
                </a:lnTo>
                <a:lnTo>
                  <a:pt x="24429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5C20A-90F3-8230-4987-F19295262DB9}"/>
              </a:ext>
            </a:extLst>
          </p:cNvPr>
          <p:cNvSpPr txBox="1"/>
          <p:nvPr/>
        </p:nvSpPr>
        <p:spPr>
          <a:xfrm>
            <a:off x="611707" y="787681"/>
            <a:ext cx="33703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Söhne"/>
              </a:rPr>
              <a:t>We are collecting our data from git hub repository.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DED42-5572-92ED-BE4B-18E345B7FF79}"/>
              </a:ext>
            </a:extLst>
          </p:cNvPr>
          <p:cNvSpPr txBox="1"/>
          <p:nvPr/>
        </p:nvSpPr>
        <p:spPr>
          <a:xfrm>
            <a:off x="727587" y="2035277"/>
            <a:ext cx="923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https://multiple-disease-prediction-4jkmvztsmchdtdgbcro9mu.streamlit.app/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25258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D87D2670-4E76-7173-510E-66C3D383D90A}"/>
              </a:ext>
            </a:extLst>
          </p:cNvPr>
          <p:cNvSpPr/>
          <p:nvPr/>
        </p:nvSpPr>
        <p:spPr>
          <a:xfrm flipV="1">
            <a:off x="90002" y="739855"/>
            <a:ext cx="6310798" cy="45719"/>
          </a:xfrm>
          <a:custGeom>
            <a:avLst/>
            <a:gdLst/>
            <a:ahLst/>
            <a:cxnLst/>
            <a:rect l="l" t="t" r="r" b="b"/>
            <a:pathLst>
              <a:path w="2485390" h="36829">
                <a:moveTo>
                  <a:pt x="2485161" y="0"/>
                </a:moveTo>
                <a:lnTo>
                  <a:pt x="0" y="0"/>
                </a:lnTo>
                <a:lnTo>
                  <a:pt x="0" y="36525"/>
                </a:lnTo>
                <a:lnTo>
                  <a:pt x="2485161" y="36525"/>
                </a:lnTo>
                <a:lnTo>
                  <a:pt x="248516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C5A5DE-7696-A1D3-341F-F390A9DD995D}"/>
              </a:ext>
            </a:extLst>
          </p:cNvPr>
          <p:cNvSpPr/>
          <p:nvPr/>
        </p:nvSpPr>
        <p:spPr>
          <a:xfrm>
            <a:off x="-111509" y="785574"/>
            <a:ext cx="4132416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400" b="1" i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Söhne"/>
              </a:rPr>
              <a:t>Contributions to Healthcare</a:t>
            </a:r>
            <a:endParaRPr lang="en-IN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A4089-8A29-7D7A-554E-EBC8F0088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834" y="924231"/>
            <a:ext cx="4132416" cy="50636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D12C69-88C9-98D9-A395-EB7F5DD1C039}"/>
              </a:ext>
            </a:extLst>
          </p:cNvPr>
          <p:cNvSpPr txBox="1"/>
          <p:nvPr/>
        </p:nvSpPr>
        <p:spPr>
          <a:xfrm>
            <a:off x="690057" y="2156644"/>
            <a:ext cx="53076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Emphasize the impact of the project on healthcare.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Discuss how the project contributes to advancements in disease prediction and healthcare innovation.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9299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16A268D-4BFD-402E-B2A2-731A0346C6A9}"/>
              </a:ext>
            </a:extLst>
          </p:cNvPr>
          <p:cNvCxnSpPr>
            <a:cxnSpLocks/>
          </p:cNvCxnSpPr>
          <p:nvPr/>
        </p:nvCxnSpPr>
        <p:spPr>
          <a:xfrm>
            <a:off x="68826" y="775212"/>
            <a:ext cx="64106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034DBBC-3DCE-DB21-ABC4-4F357D92ED15}"/>
              </a:ext>
            </a:extLst>
          </p:cNvPr>
          <p:cNvSpPr txBox="1"/>
          <p:nvPr/>
        </p:nvSpPr>
        <p:spPr>
          <a:xfrm>
            <a:off x="506155" y="932528"/>
            <a:ext cx="2522179" cy="461665"/>
          </a:xfrm>
          <a:prstGeom prst="rect">
            <a:avLst/>
          </a:prstGeom>
          <a:noFill/>
          <a:effectLst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>
                    <a:lumMod val="50000"/>
                  </a:schemeClr>
                </a:solidFill>
                <a:latin typeface="Algerian" panose="04020705040A02060702" pitchFamily="82" charset="0"/>
              </a:rPr>
              <a:t>Future Scope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4DE52-05CA-524B-428A-B40D2C2DBF81}"/>
              </a:ext>
            </a:extLst>
          </p:cNvPr>
          <p:cNvSpPr txBox="1"/>
          <p:nvPr/>
        </p:nvSpPr>
        <p:spPr>
          <a:xfrm>
            <a:off x="589933" y="1997839"/>
            <a:ext cx="36379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Use of deep learning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Integration with IOT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More accurate model with larger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Mobile health application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F03F1-4EC1-7DAD-EDC6-5E453C472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700" y="2989008"/>
            <a:ext cx="6209068" cy="2772694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35576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68FAE47-6232-73AC-25B2-70B3A4FFA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426" y="1544403"/>
            <a:ext cx="3446464" cy="3538874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614FAAF9-A32E-2BC2-3822-B7181C8B14D5}"/>
              </a:ext>
            </a:extLst>
          </p:cNvPr>
          <p:cNvSpPr txBox="1">
            <a:spLocks/>
          </p:cNvSpPr>
          <p:nvPr/>
        </p:nvSpPr>
        <p:spPr>
          <a:xfrm>
            <a:off x="8298427" y="964733"/>
            <a:ext cx="2325104" cy="446276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  <p:txBody>
          <a:bodyPr vert="horz" wrap="square" lIns="0" tIns="1524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2800" b="1" spc="-45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/>
                <a:cs typeface="Verdana"/>
              </a:rPr>
              <a:t>Conclusion</a:t>
            </a:r>
            <a:endParaRPr lang="en-IN" sz="2800" b="1" dirty="0">
              <a:solidFill>
                <a:schemeClr val="tx2">
                  <a:lumMod val="60000"/>
                  <a:lumOff val="40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C16F57A-7E0A-AC02-C4C7-8EC7B87D211E}"/>
              </a:ext>
            </a:extLst>
          </p:cNvPr>
          <p:cNvSpPr/>
          <p:nvPr/>
        </p:nvSpPr>
        <p:spPr>
          <a:xfrm flipV="1">
            <a:off x="5791200" y="817642"/>
            <a:ext cx="5838713" cy="45719"/>
          </a:xfrm>
          <a:custGeom>
            <a:avLst/>
            <a:gdLst/>
            <a:ahLst/>
            <a:cxnLst/>
            <a:rect l="l" t="t" r="r" b="b"/>
            <a:pathLst>
              <a:path w="2445385" h="36829">
                <a:moveTo>
                  <a:pt x="2444800" y="0"/>
                </a:moveTo>
                <a:lnTo>
                  <a:pt x="0" y="0"/>
                </a:lnTo>
                <a:lnTo>
                  <a:pt x="0" y="36525"/>
                </a:lnTo>
                <a:lnTo>
                  <a:pt x="2444800" y="36525"/>
                </a:lnTo>
                <a:lnTo>
                  <a:pt x="244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E49645-2F20-7E2B-9DCE-C5D11C231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515" y="2841424"/>
            <a:ext cx="544707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plays an important role in healthcare prediction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Diabetes and heart disease can be predicted efficiently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 includes real-time monitoring and deep learning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6BD92E-C09B-E595-280E-0B7D86CF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5557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öhne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368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FA8129-FAB9-A8B3-778E-212FF92727A1}"/>
              </a:ext>
            </a:extLst>
          </p:cNvPr>
          <p:cNvSpPr txBox="1">
            <a:spLocks/>
          </p:cNvSpPr>
          <p:nvPr/>
        </p:nvSpPr>
        <p:spPr>
          <a:xfrm>
            <a:off x="3893574" y="1731134"/>
            <a:ext cx="5220929" cy="1127873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1595"/>
              </a:spcBef>
            </a:pPr>
            <a:r>
              <a:rPr lang="en-IN" spc="10" dirty="0"/>
              <a:t>Thank You!</a:t>
            </a: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endParaRPr lang="en-IN" sz="1100" dirty="0">
              <a:latin typeface="Verdana"/>
              <a:cs typeface="Verdana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36471F77-1AD9-0D07-CAE4-21756943F3B1}"/>
              </a:ext>
            </a:extLst>
          </p:cNvPr>
          <p:cNvSpPr/>
          <p:nvPr/>
        </p:nvSpPr>
        <p:spPr>
          <a:xfrm>
            <a:off x="90002" y="756089"/>
            <a:ext cx="4813606" cy="45719"/>
          </a:xfrm>
          <a:custGeom>
            <a:avLst/>
            <a:gdLst/>
            <a:ahLst/>
            <a:cxnLst/>
            <a:rect l="l" t="t" r="r" b="b"/>
            <a:pathLst>
              <a:path w="2483485" h="36829">
                <a:moveTo>
                  <a:pt x="2483002" y="0"/>
                </a:moveTo>
                <a:lnTo>
                  <a:pt x="0" y="0"/>
                </a:lnTo>
                <a:lnTo>
                  <a:pt x="0" y="36525"/>
                </a:lnTo>
                <a:lnTo>
                  <a:pt x="2483002" y="36525"/>
                </a:lnTo>
                <a:lnTo>
                  <a:pt x="2483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A29A5E22-6593-1EF6-E11F-4C3EB32730A0}"/>
              </a:ext>
            </a:extLst>
          </p:cNvPr>
          <p:cNvSpPr/>
          <p:nvPr/>
        </p:nvSpPr>
        <p:spPr>
          <a:xfrm flipV="1">
            <a:off x="6096001" y="5609665"/>
            <a:ext cx="4962316" cy="63548"/>
          </a:xfrm>
          <a:custGeom>
            <a:avLst/>
            <a:gdLst/>
            <a:ahLst/>
            <a:cxnLst/>
            <a:rect l="l" t="t" r="r" b="b"/>
            <a:pathLst>
              <a:path w="2483485" h="36830">
                <a:moveTo>
                  <a:pt x="2482989" y="0"/>
                </a:moveTo>
                <a:lnTo>
                  <a:pt x="0" y="0"/>
                </a:lnTo>
                <a:lnTo>
                  <a:pt x="0" y="36525"/>
                </a:lnTo>
                <a:lnTo>
                  <a:pt x="2482989" y="36525"/>
                </a:lnTo>
                <a:lnTo>
                  <a:pt x="24829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90639-ABC0-81A7-FC71-4B2E57E077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205636"/>
            <a:ext cx="963561" cy="89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4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414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Algerian</vt:lpstr>
      <vt:lpstr>Arial</vt:lpstr>
      <vt:lpstr>Bell MT</vt:lpstr>
      <vt:lpstr>Calibri</vt:lpstr>
      <vt:lpstr>Calibri Light</vt:lpstr>
      <vt:lpstr>Söhne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Nibedita Maji</dc:creator>
  <cp:lastModifiedBy>Nibedita Maji</cp:lastModifiedBy>
  <cp:revision>12</cp:revision>
  <dcterms:created xsi:type="dcterms:W3CDTF">2026-02-08T17:01:15Z</dcterms:created>
  <dcterms:modified xsi:type="dcterms:W3CDTF">2026-02-09T04:48:55Z</dcterms:modified>
</cp:coreProperties>
</file>